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r>
              <a:rPr lang="en-US" sz="1200" b="1" i="1" u="none" strike="noStrik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 </a:t>
            </a:r>
            <a:r>
              <a:rPr lang="en-US" sz="1200" b="1" i="1" u="none" strike="noStrik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tiap</a:t>
            </a:r>
            <a:r>
              <a:rPr lang="en-US" sz="1200" b="1" i="1" u="none" strike="noStrik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u="none" strike="noStrik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US" sz="1200" b="1" i="1" u="none" strike="noStrik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b="1" i="1" u="none" strike="noStrik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</a:t>
            </a:r>
            <a:r>
              <a:rPr lang="en-US" sz="1200" b="1" i="1" u="none" strike="noStrik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u="none" strike="noStrik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sz="1200" b="1" i="1" u="none" strike="noStrik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u="none" strike="noStrik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</a:t>
            </a:r>
            <a:r>
              <a:rPr lang="en-US" sz="1200" b="1" i="1" u="none" strike="noStrik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u="none" strike="noStrik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1200" b="1" i="1" u="none" strike="noStrik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EC-49D8-96EF-00AFFAA4A263}"/>
              </c:ext>
            </c:extLst>
          </c:dPt>
          <c:dPt>
            <c:idx val="1"/>
            <c:invertIfNegative val="0"/>
            <c:bubble3D val="0"/>
            <c:spPr>
              <a:solidFill>
                <a:srgbClr val="2C6D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EC-49D8-96EF-00AFFAA4A263}"/>
              </c:ext>
            </c:extLst>
          </c:dPt>
          <c:dPt>
            <c:idx val="2"/>
            <c:invertIfNegative val="0"/>
            <c:bubble3D val="0"/>
            <c:spPr>
              <a:solidFill>
                <a:srgbClr val="2C6D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EC-49D8-96EF-00AFFAA4A263}"/>
              </c:ext>
            </c:extLst>
          </c:dPt>
          <c:dPt>
            <c:idx val="3"/>
            <c:invertIfNegative val="0"/>
            <c:bubble3D val="0"/>
            <c:spPr>
              <a:solidFill>
                <a:srgbClr val="2C6D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EC-49D8-96EF-00AFFAA4A263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Rentang harga</c:v>
                </c:pt>
                <c:pt idx="1">
                  <c:v>Volume</c:v>
                </c:pt>
                <c:pt idx="2">
                  <c:v>Gap pembukaan</c:v>
                </c:pt>
                <c:pt idx="3">
                  <c:v>Arah hari ini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0.48320000000000002</c:v>
                </c:pt>
                <c:pt idx="1">
                  <c:v>0.4919</c:v>
                </c:pt>
                <c:pt idx="2">
                  <c:v>0.4919</c:v>
                </c:pt>
                <c:pt idx="3">
                  <c:v>0.49259999999999998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EC-49D8-96EF-00AFFAA4A2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.47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76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701771-FDF0-4DBC-A416-ECBFE0DF7A16}"/>
              </a:ext>
            </a:extLst>
          </p:cNvPr>
          <p:cNvSpPr/>
          <p:nvPr/>
        </p:nvSpPr>
        <p:spPr>
          <a:xfrm>
            <a:off x="-2128" y="4210050"/>
            <a:ext cx="9144000" cy="952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45DBB8-CA58-4EA7-910E-0C7E41F3C151}"/>
              </a:ext>
            </a:extLst>
          </p:cNvPr>
          <p:cNvSpPr/>
          <p:nvPr/>
        </p:nvSpPr>
        <p:spPr>
          <a:xfrm>
            <a:off x="0" y="0"/>
            <a:ext cx="9144000" cy="110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0" y="237252"/>
            <a:ext cx="9144000" cy="102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Memprediksi Arah Harga Saham BBRI dengan Decision Tree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828800" y="58274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Apakah besok harga naik (Beli) atau tidak?</a:t>
            </a:r>
            <a:endParaRPr lang="en-US" sz="1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65766" y="2262874"/>
            <a:ext cx="2098867" cy="61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Ahmad </a:t>
            </a:r>
            <a:r>
              <a:rPr lang="en-US" sz="1400" b="1" i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Riko</a:t>
            </a: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Dyansyah</a:t>
            </a:r>
            <a:endParaRPr lang="en-US" sz="1400" b="1" i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NIM 1462400002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598073" y="4305272"/>
            <a:ext cx="5943600" cy="61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Teknik </a:t>
            </a:r>
            <a:r>
              <a:rPr lang="en-US" sz="16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Informatika</a:t>
            </a:r>
            <a:b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6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Fakultas</a:t>
            </a: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Teknik </a:t>
            </a:r>
            <a:r>
              <a:rPr lang="en-US" sz="16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Elektro</a:t>
            </a: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Dan </a:t>
            </a:r>
            <a:r>
              <a:rPr lang="en-US" sz="16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Informatika</a:t>
            </a: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i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Cerdas</a:t>
            </a:r>
            <a:b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Universitas 17 Agustus 1945 Surabaya</a:t>
            </a:r>
            <a:endParaRPr lang="en-US" sz="1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E143EF-FDFA-4D40-B679-00BFE283C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069" y="1406525"/>
            <a:ext cx="2303607" cy="233045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89F1E496-1E23-49F4-98E9-4FD8B40A2D73}"/>
              </a:ext>
            </a:extLst>
          </p:cNvPr>
          <p:cNvSpPr txBox="1"/>
          <p:nvPr/>
        </p:nvSpPr>
        <p:spPr>
          <a:xfrm>
            <a:off x="666751" y="2262874"/>
            <a:ext cx="2211484" cy="61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Ir. </a:t>
            </a:r>
            <a:r>
              <a:rPr lang="en-US" sz="1400" b="1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Sugiono</a:t>
            </a:r>
            <a:r>
              <a:rPr lang="en-US" sz="1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M.T.</a:t>
            </a:r>
            <a:br>
              <a:rPr lang="en-US" sz="1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r">
              <a:buNone/>
            </a:pPr>
            <a:r>
              <a:rPr lang="en-US" sz="14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PENAMBANGAN DATA - A</a:t>
            </a:r>
            <a:endParaRPr 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455DD10-4D4E-4A95-B73F-5D971A9A1511}"/>
              </a:ext>
            </a:extLst>
          </p:cNvPr>
          <p:cNvSpPr/>
          <p:nvPr/>
        </p:nvSpPr>
        <p:spPr>
          <a:xfrm>
            <a:off x="0" y="0"/>
            <a:ext cx="9144000" cy="110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218440" y="16891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Decision Tree?</a:t>
            </a:r>
            <a:endParaRPr lang="en-US" sz="3000" i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Seperti permainan tebak-tebakan: komputer bertanya satu per satu (ya/tidak) sampai sampai pada jawaban.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7390" y="2496379"/>
            <a:ext cx="3931920" cy="1463040"/>
          </a:xfrm>
          <a:prstGeom prst="roundRect">
            <a:avLst>
              <a:gd name="adj" fmla="val 6316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5990" y="263353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kita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5990" y="2953579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harga penutupan besok lebih tinggi dari hari ini.</a:t>
            </a:r>
            <a:endParaRPr lang="en-US" sz="1500" i="1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harga besok tidak naik.</a:t>
            </a:r>
            <a:endParaRPr lang="en-US" sz="1500" i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sehari-hari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73736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langit mendung?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H="1">
            <a:off x="5394960" y="2423160"/>
            <a:ext cx="91440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423160"/>
            <a:ext cx="91440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24612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3246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 payung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32461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8420" y="3323810"/>
            <a:ext cx="1234440" cy="5257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payung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38FE1C-A1D2-406F-88AE-99427A9D0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2068"/>
            <a:ext cx="9144000" cy="72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1BD1446-9911-477A-812B-C269D462DB39}"/>
              </a:ext>
            </a:extLst>
          </p:cNvPr>
          <p:cNvSpPr/>
          <p:nvPr/>
        </p:nvSpPr>
        <p:spPr>
          <a:xfrm>
            <a:off x="0" y="-7620"/>
            <a:ext cx="9144000" cy="110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180340" y="16891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yang Dipakai</a:t>
            </a:r>
            <a:endParaRPr lang="en-US" sz="3000" i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 hari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latih (80%)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membangun pohon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hari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uji (20%)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menguji pohon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Jan 2025 - 31 Jul 2026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perdagangan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saham BBRI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petunjuk (atribut) yang dipakai untuk menebak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2C6DB0"/>
          </a:solidFill>
          <a:ln w="12700">
            <a:solidFill>
              <a:srgbClr val="2C6D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hari ini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904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naik atau turun dibanding saat buka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01752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154680"/>
            <a:ext cx="365760" cy="365760"/>
          </a:xfrm>
          <a:prstGeom prst="ellipse">
            <a:avLst/>
          </a:prstGeom>
          <a:solidFill>
            <a:srgbClr val="2C6DB0"/>
          </a:solidFill>
          <a:ln w="12700">
            <a:solidFill>
              <a:srgbClr val="2C6D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904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Seramai apa transaksi: Rendah, Sedang, Tinggi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154680"/>
            <a:ext cx="365760" cy="365760"/>
          </a:xfrm>
          <a:prstGeom prst="ellipse">
            <a:avLst/>
          </a:prstGeom>
          <a:solidFill>
            <a:srgbClr val="2C6DB0"/>
          </a:solidFill>
          <a:ln w="12700">
            <a:solidFill>
              <a:srgbClr val="2C6DB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harga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904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tertinggi-terendah: Sempit atau Lebar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301752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3154680"/>
            <a:ext cx="365760" cy="365760"/>
          </a:xfrm>
          <a:prstGeom prst="ellipse">
            <a:avLst/>
          </a:prstGeom>
          <a:solidFill>
            <a:srgbClr val="2C6DB0"/>
          </a:solidFill>
          <a:ln w="12700">
            <a:solidFill>
              <a:srgbClr val="2C6DB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pembukaan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904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buka di atas atau di bawah penutupan kemarin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ED47381-F6CE-48FA-9507-EEA1ED392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2068"/>
            <a:ext cx="9144000" cy="72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C4D649-BB51-457F-B5BE-CC4C93C93DCA}"/>
              </a:ext>
            </a:extLst>
          </p:cNvPr>
          <p:cNvSpPr/>
          <p:nvPr/>
        </p:nvSpPr>
        <p:spPr>
          <a:xfrm>
            <a:off x="0" y="0"/>
            <a:ext cx="9144000" cy="110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193040" y="1752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Pohon Memilih Pertanyaan?</a:t>
            </a:r>
            <a:endParaRPr lang="en-US" sz="3000" i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566160" cy="1709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6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yang dipakai: Gini</a:t>
            </a:r>
            <a:endParaRPr lang="en-US" sz="1500" b="1" dirty="0"/>
          </a:p>
          <a:p>
            <a:pPr marL="0" indent="0" algn="r">
              <a:spcAft>
                <a:spcPts val="800"/>
              </a:spcAft>
              <a:buNone/>
            </a:pPr>
            <a:r>
              <a:rPr lang="en-US" sz="1500" b="1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data satu jenis saja (</a:t>
            </a:r>
            <a:r>
              <a:rPr lang="en-US" sz="1500" b="1" i="1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</a:t>
            </a:r>
            <a:r>
              <a:rPr lang="en-US" sz="1500" b="1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1500" b="1" i="1" dirty="0"/>
            </a:br>
            <a:r>
              <a:rPr lang="en-US" sz="1500" b="1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= campur 50:50 (berantakan)</a:t>
            </a:r>
            <a:endParaRPr lang="en-US" sz="1500" b="1" i="1" dirty="0"/>
          </a:p>
          <a:p>
            <a:pPr marL="0" indent="0" algn="r">
              <a:spcAft>
                <a:spcPts val="800"/>
              </a:spcAft>
              <a:buNone/>
            </a:pPr>
            <a:br>
              <a:rPr lang="en-US" sz="1500" b="1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i="1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Pohon</a:t>
            </a:r>
            <a:r>
              <a:rPr lang="en-US" sz="1500" b="1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memilih pertanyaan yang membuat data paling rapi, yaitu Gini paling kecil.</a:t>
            </a:r>
            <a:endParaRPr lang="en-US" sz="1500" b="1" i="1" dirty="0"/>
          </a:p>
        </p:txBody>
      </p:sp>
      <p:sp>
        <p:nvSpPr>
          <p:cNvPr id="4" name="Shape 2"/>
          <p:cNvSpPr/>
          <p:nvPr/>
        </p:nvSpPr>
        <p:spPr>
          <a:xfrm>
            <a:off x="548640" y="3188022"/>
            <a:ext cx="3566160" cy="785834"/>
          </a:xfrm>
          <a:prstGeom prst="roundRect">
            <a:avLst>
              <a:gd name="adj" fmla="val 1090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245087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Pemenang: Rentang harga (0,4832). Jadi pertanyaan pertama (akar pohon).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106228523"/>
              </p:ext>
            </p:extLst>
          </p:nvPr>
        </p:nvGraphicFramePr>
        <p:xfrm>
          <a:off x="4389120" y="1280160"/>
          <a:ext cx="4297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40F2283-1ECA-4A5A-9980-5B7A7FF4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2068"/>
            <a:ext cx="9144000" cy="72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30698A6-F230-4381-9A3D-AAE0F6BF440E}"/>
              </a:ext>
            </a:extLst>
          </p:cNvPr>
          <p:cNvSpPr/>
          <p:nvPr/>
        </p:nvSpPr>
        <p:spPr>
          <a:xfrm>
            <a:off x="0" y="0"/>
            <a:ext cx="9144000" cy="110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186690" y="1752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Pohon Keputusan yang Terbentuk</a:t>
            </a:r>
            <a:endParaRPr lang="en-US" sz="3000" i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429000" y="11430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29000" y="1143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harga hari ini?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 hari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21945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2C6DB0"/>
          </a:solidFill>
          <a:ln w="12700">
            <a:solidFill>
              <a:srgbClr val="2C6D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transaksi?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hari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21945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2C6DB0"/>
          </a:solidFill>
          <a:ln w="12700">
            <a:solidFill>
              <a:srgbClr val="2C6D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321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transaksi?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hari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2514600" y="1828800"/>
            <a:ext cx="2057400" cy="3657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828800"/>
            <a:ext cx="2057400" cy="3657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143000" y="2834640"/>
            <a:ext cx="137160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" y="3291840"/>
            <a:ext cx="1234440" cy="731520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" y="3291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514600" y="2834640"/>
            <a:ext cx="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97380" y="3291840"/>
            <a:ext cx="1234440" cy="731520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97380" y="3291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39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514600" y="2834640"/>
            <a:ext cx="137160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8980" y="3291840"/>
            <a:ext cx="1234440" cy="731520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68980" y="3291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 flipH="1">
            <a:off x="5257800" y="2834640"/>
            <a:ext cx="137160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0580" y="3291840"/>
            <a:ext cx="1234440" cy="731520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40580" y="3291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29400" y="2834640"/>
            <a:ext cx="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12180" y="3291840"/>
            <a:ext cx="1234440" cy="731520"/>
          </a:xfrm>
          <a:prstGeom prst="roundRect">
            <a:avLst>
              <a:gd name="adj" fmla="val 15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12180" y="3291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29400" y="2834640"/>
            <a:ext cx="137160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83780" y="3291840"/>
            <a:ext cx="1234440" cy="731520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83780" y="3291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83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171878" y="4120930"/>
            <a:ext cx="87933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Oranye = Beli, biru muda = Tidak, n = jumlah hari. Hanya 1 dari 6 jalur yang berujung Beli: rentang Lebar + volume Sedang.</a:t>
            </a:r>
            <a:endParaRPr lang="en-US" sz="13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DC5BC911-9B43-45A4-A532-FF653CE2A4F7}"/>
              </a:ext>
            </a:extLst>
          </p:cNvPr>
          <p:cNvSpPr txBox="1"/>
          <p:nvPr/>
        </p:nvSpPr>
        <p:spPr>
          <a:xfrm>
            <a:off x="3091180" y="3008376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cs typeface="Calibri" pitchFamily="34" charset="-120"/>
              </a:rPr>
              <a:t>Tinggi</a:t>
            </a:r>
            <a:endParaRPr lang="en-US" sz="800" i="1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D7E45C17-AB02-4A07-9005-82C82E5D767C}"/>
              </a:ext>
            </a:extLst>
          </p:cNvPr>
          <p:cNvSpPr txBox="1"/>
          <p:nvPr/>
        </p:nvSpPr>
        <p:spPr>
          <a:xfrm>
            <a:off x="2288540" y="3002280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cs typeface="Calibri" pitchFamily="34" charset="-120"/>
              </a:rPr>
              <a:t>Sedang</a:t>
            </a:r>
            <a:endParaRPr lang="en-US" sz="800" i="1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8B84A2BB-B661-4C7C-B87E-862916566087}"/>
              </a:ext>
            </a:extLst>
          </p:cNvPr>
          <p:cNvSpPr txBox="1"/>
          <p:nvPr/>
        </p:nvSpPr>
        <p:spPr>
          <a:xfrm>
            <a:off x="1507490" y="3002280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 err="1">
                <a:latin typeface="Calibri" pitchFamily="34" charset="0"/>
                <a:cs typeface="Calibri" pitchFamily="34" charset="-120"/>
              </a:rPr>
              <a:t>Rendah</a:t>
            </a:r>
            <a:endParaRPr lang="en-US" sz="800" i="1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CD7EEB6B-DFF0-4E7B-9BE1-54DF95CA27E9}"/>
              </a:ext>
            </a:extLst>
          </p:cNvPr>
          <p:cNvSpPr txBox="1"/>
          <p:nvPr/>
        </p:nvSpPr>
        <p:spPr>
          <a:xfrm>
            <a:off x="7214870" y="2996692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cs typeface="Calibri" pitchFamily="34" charset="-120"/>
              </a:rPr>
              <a:t>Tinggi</a:t>
            </a:r>
            <a:endParaRPr lang="en-US" sz="800" i="1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F9538D33-BB5D-4C84-95B8-C720D94E970E}"/>
              </a:ext>
            </a:extLst>
          </p:cNvPr>
          <p:cNvSpPr txBox="1"/>
          <p:nvPr/>
        </p:nvSpPr>
        <p:spPr>
          <a:xfrm>
            <a:off x="6412230" y="2990596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cs typeface="Calibri" pitchFamily="34" charset="-120"/>
              </a:rPr>
              <a:t>Sedang</a:t>
            </a:r>
            <a:endParaRPr lang="en-US" sz="800" i="1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FDCCA66C-A7E5-4D8A-B270-27D235F73A74}"/>
              </a:ext>
            </a:extLst>
          </p:cNvPr>
          <p:cNvSpPr txBox="1"/>
          <p:nvPr/>
        </p:nvSpPr>
        <p:spPr>
          <a:xfrm>
            <a:off x="5631180" y="2990596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 err="1">
                <a:latin typeface="Calibri" pitchFamily="34" charset="0"/>
                <a:cs typeface="Calibri" pitchFamily="34" charset="-120"/>
              </a:rPr>
              <a:t>Rendah</a:t>
            </a:r>
            <a:endParaRPr lang="en-US" sz="800" i="1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514CDEE6-9907-4356-91A4-97F5C8B007A5}"/>
              </a:ext>
            </a:extLst>
          </p:cNvPr>
          <p:cNvSpPr txBox="1"/>
          <p:nvPr/>
        </p:nvSpPr>
        <p:spPr>
          <a:xfrm>
            <a:off x="3180080" y="1909826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 err="1">
                <a:latin typeface="Calibri" pitchFamily="34" charset="0"/>
                <a:cs typeface="Calibri" pitchFamily="34" charset="-120"/>
              </a:rPr>
              <a:t>Sempit</a:t>
            </a:r>
            <a:endParaRPr lang="en-US" sz="800" i="1" dirty="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0D886C49-8A3A-4A07-823A-F429A2E9A8B3}"/>
              </a:ext>
            </a:extLst>
          </p:cNvPr>
          <p:cNvSpPr txBox="1"/>
          <p:nvPr/>
        </p:nvSpPr>
        <p:spPr>
          <a:xfrm>
            <a:off x="5459730" y="1897126"/>
            <a:ext cx="444500" cy="1752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cs typeface="Calibri" pitchFamily="34" charset="-120"/>
              </a:rPr>
              <a:t>Lebar</a:t>
            </a:r>
            <a:endParaRPr lang="en-US" sz="800" i="1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62D5954-FA4E-466D-8CFF-0EA84F130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2068"/>
            <a:ext cx="9144000" cy="72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19F0272-B8A3-43F2-87E7-D01F4DE02763}"/>
              </a:ext>
            </a:extLst>
          </p:cNvPr>
          <p:cNvSpPr/>
          <p:nvPr/>
        </p:nvSpPr>
        <p:spPr>
          <a:xfrm>
            <a:off x="0" y="0"/>
            <a:ext cx="9144000" cy="110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218440" y="187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Seberapa Akurat Modelnya?</a:t>
            </a:r>
            <a:endParaRPr lang="en-US" sz="3000" i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57,43%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data latih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42,57%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54,05%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data uji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45,95%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B3F6B"/>
          </a:solidFill>
          <a:ln w="12700">
            <a:solidFill>
              <a:srgbClr val="1B3F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55,41%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Tebakan "Tidak" terus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model sama sekali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5344"/>
            <a:ext cx="8138160" cy="868680"/>
          </a:xfrm>
          <a:prstGeom prst="roundRect">
            <a:avLst>
              <a:gd name="adj" fmla="val 9231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44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Temuan jujur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9954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7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Akurasi uji (54,05%) belum mengalahkan tebakan sederhana (55,41%). Artinya 4 atribut ini belum cukup kuat untuk meramal harga. Estimasi pesimistik error: 43,58%.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A2B587-6FDA-4920-AA13-5ECEA4B97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2068"/>
            <a:ext cx="9144000" cy="72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0E4ABC1-04E1-42A5-A43C-4C43134647BA}"/>
              </a:ext>
            </a:extLst>
          </p:cNvPr>
          <p:cNvSpPr/>
          <p:nvPr/>
        </p:nvSpPr>
        <p:spPr>
          <a:xfrm>
            <a:off x="0" y="0"/>
            <a:ext cx="91440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212090" y="19431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 &amp; Kesimpulan</a:t>
            </a:r>
            <a:endParaRPr lang="en-US" sz="3000" i="1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017520"/>
          </a:xfrm>
          <a:prstGeom prst="roundRect">
            <a:avLst>
              <a:gd name="adj" fmla="val 3636"/>
            </a:avLst>
          </a:prstGeom>
          <a:solidFill>
            <a:srgbClr val="1B3F6B"/>
          </a:solidFill>
          <a:ln w="12700">
            <a:solidFill>
              <a:srgbClr val="1B3F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28C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sesi berikutnya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Arah hari ini: Naik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Volume: Sedang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Rentang harga: Sempit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pembukaan: Naik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Prediksi model:</a:t>
            </a:r>
            <a:endParaRPr lang="en-US" sz="13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282565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harga adalah pembeda terbaik, tetapi selisihnya sangat kecil.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347875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uji 54,05% belum mengalahkan tebakan sederhana (55,41%).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392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atribut lebih kaya dan data lebih banyak sebelum layak dipakai.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0AF1B3-4CFF-4E1D-BB98-315F1C04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2068"/>
            <a:ext cx="9144000" cy="72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474</Words>
  <Application>Microsoft Office PowerPoint</Application>
  <PresentationFormat>On-screen Show (16:9)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BBRI - Data Mining</dc:title>
  <dc:subject>PptxGenJS Presentation</dc:subject>
  <dc:creator>PptxGenJS</dc:creator>
  <cp:lastModifiedBy>Administrator</cp:lastModifiedBy>
  <cp:revision>19</cp:revision>
  <dcterms:created xsi:type="dcterms:W3CDTF">2026-09-28T04:02:01Z</dcterms:created>
  <dcterms:modified xsi:type="dcterms:W3CDTF">2026-09-28T07:37:13Z</dcterms:modified>
</cp:coreProperties>
</file>